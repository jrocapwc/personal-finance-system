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7" d="100"/>
          <a:sy n="37" d="100"/>
        </p:scale>
        <p:origin x="1764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504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YamanTracker — System Analysis and Technical Architecture (source-verified repository baseline; 26 October 2026). Cover and navigation. Describes verified code rather than production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YamanTracker — System Analysis and Technical Architecture (source-verified repository baseline; 26 October 2026). Problem motivations inferred from implemented workflows; no user research or quantified outcome claims were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YamanTracker — System Analysis and Technical Architecture (source-verified repository baseline; 26 October 2026). Source sections 4.0-4.6. General chat does not receive the monthly finance aggregate.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YamanTracker — System Analysis and Technical Architecture (source-verified repository baseline; 26 October 2026). Source sections 3 and 5. The user browser has no direct calls to FastAPI or Node in the implemented architecture. Mongo is FastAPI-owned; H2 is Spring-owned; OpenAI is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YamanTracker — System Analysis and Technical Architecture (source-verified repository baseline; 26 October 2026). Source section 3.1. End-user access uses Spring as a gateway. Node integration is a mock adapter, not a real bank aggregator.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YamanTracker — System Analysis and Technical Architecture (source-verified repository baseline; 26 October 2026). Source sections 3.2 and 4.2. Groupings faithfully describe Java modules, not separate runtime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YamanTracker — System Analysis and Technical Architecture (source-verified repository baseline; 26 October 2026). Source section 6. MySQL 8.4 exists in Compose only and is not the active application datasource. Node engine declared 24.x; Python 3.14 comes from setup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YamanTracker — System Analysis and Technical Architecture (source-verified repository baseline; 26 October 2026). Sources sections 4.3-4.4 and 5.3-5.5. FINANCE requests include server-derived month aggregates rather than raw transactions and profile data; FINANCE fallback exists, GENERAL fallback does not. MongoDB ownership is logical without SQL cross-store FK.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YamanTracker — System Analysis and Technical Architecture (source-verified repository baseline; 26 October 2026). Source sections 2 and 4. Status Implemented means code pathways exist; production availability is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YamanTracker — System Analysis and Technical Architecture (source-verified repository baseline; 26 October 2026). Source sections 2, 7, and 8. Simulated bank balance is hard-coded; no live bank, live model, or cloud production environment was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YamanTracker — System Analysis and Technical Architecture (source-verified repository baseline; 26 October 2026). Source sections 8 and 8.1. P0 release gates, P1 next development, P2 later features. AWS is only a proposed hosting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YamanTracker — System Analysis and Technical Architecture (source-verified repository baseline; 26 October 2026). Summary. Production readiness, cloud deployment, and real banking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35240" y="0"/>
            <a:ext cx="4553712" cy="5120640"/>
          </a:xfrm>
          <a:prstGeom prst="roundRect">
            <a:avLst>
              <a:gd name="adj" fmla="val 12048"/>
            </a:avLst>
          </a:prstGeom>
          <a:solidFill>
            <a:srgbClr val="442322"/>
          </a:solidFill>
          <a:ln w="12700">
            <a:solidFill>
              <a:srgbClr val="4423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0" y="347472"/>
            <a:ext cx="3291840" cy="3291840"/>
          </a:xfrm>
          <a:prstGeom prst="ellipse">
            <a:avLst/>
          </a:prstGeom>
          <a:solidFill>
            <a:srgbClr val="442322">
              <a:alpha val="0"/>
            </a:srgbClr>
          </a:solidFill>
          <a:ln w="19050">
            <a:solidFill>
              <a:srgbClr val="7A3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0536" y="804672"/>
            <a:ext cx="2368296" cy="2368296"/>
          </a:xfrm>
          <a:prstGeom prst="ellipse">
            <a:avLst/>
          </a:prstGeom>
          <a:solidFill>
            <a:srgbClr val="442322">
              <a:alpha val="0"/>
            </a:srgbClr>
          </a:solidFill>
          <a:ln w="16510">
            <a:solidFill>
              <a:srgbClr val="965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00616" y="1426464"/>
            <a:ext cx="1069848" cy="1069848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500616" y="1435608"/>
            <a:ext cx="1069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₱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22376" y="786384"/>
            <a:ext cx="2359152" cy="338328"/>
          </a:xfrm>
          <a:prstGeom prst="roundRect">
            <a:avLst>
              <a:gd name="adj" fmla="val 43243"/>
            </a:avLst>
          </a:prstGeom>
          <a:solidFill>
            <a:srgbClr val="66302A"/>
          </a:solidFill>
          <a:ln w="12700">
            <a:solidFill>
              <a:srgbClr val="6630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5528" y="786384"/>
            <a:ext cx="2212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C9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" y="1517904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31520" y="240487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EAC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Summary &amp; Architecture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40664" y="3246120"/>
            <a:ext cx="66751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FD5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solves  •  System flow  •  Services &amp; responsibilities  •  Stack  •  Scope  •  Roadmap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120640"/>
            <a:ext cx="10689336" cy="0"/>
          </a:xfrm>
          <a:prstGeom prst="line">
            <a:avLst/>
          </a:prstGeom>
          <a:noFill/>
          <a:ln w="12700">
            <a:solidFill>
              <a:srgbClr val="8D5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10896"/>
            <a:ext cx="73152" cy="228600"/>
          </a:xfrm>
          <a:prstGeom prst="roundRect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29260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66176" y="2926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AND VALUE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694944"/>
            <a:ext cx="11173968" cy="0"/>
          </a:xfrm>
          <a:prstGeom prst="line">
            <a:avLst/>
          </a:prstGeom>
          <a:noFill/>
          <a:ln w="1270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6510528"/>
            <a:ext cx="11173968" cy="0"/>
          </a:xfrm>
          <a:prstGeom prst="line">
            <a:avLst/>
          </a:prstGeom>
          <a:noFill/>
          <a:ln w="1143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summary  •  26 Oct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01984" y="65745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PROBLEM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12252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records make personal finances hard to understand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49224" y="181965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 brings records, budgets, and explanations together in one place.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2450592"/>
            <a:ext cx="5696712" cy="621792"/>
          </a:xfrm>
          <a:prstGeom prst="roundRect">
            <a:avLst>
              <a:gd name="adj" fmla="val 19118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248" y="2587752"/>
            <a:ext cx="310896" cy="310896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" y="259689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25420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Scattered records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2971800" y="2523744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Expenses spread across notes, spreadsheets, and statements.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58368" y="3236976"/>
            <a:ext cx="5696712" cy="621792"/>
          </a:xfrm>
          <a:prstGeom prst="roundRect">
            <a:avLst>
              <a:gd name="adj" fmla="val 19118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" y="3374136"/>
            <a:ext cx="310896" cy="310896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" y="338328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categorization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2971800" y="331012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4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repeatedly record and classify transactions.</a:t>
            </a:r>
            <a:endParaRPr lang="en-US" sz="1044" dirty="0"/>
          </a:p>
        </p:txBody>
      </p:sp>
      <p:sp>
        <p:nvSpPr>
          <p:cNvPr id="22" name="Shape 20"/>
          <p:cNvSpPr/>
          <p:nvPr/>
        </p:nvSpPr>
        <p:spPr>
          <a:xfrm>
            <a:off x="658368" y="4023360"/>
            <a:ext cx="5696712" cy="621792"/>
          </a:xfrm>
          <a:prstGeom prst="roundRect">
            <a:avLst>
              <a:gd name="adj" fmla="val 19118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1248" y="4160520"/>
            <a:ext cx="310896" cy="310896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" y="416966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80160" y="4114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blind spots</a:t>
            </a:r>
            <a:endParaRPr lang="en-US" sz="1340" dirty="0"/>
          </a:p>
        </p:txBody>
      </p:sp>
      <p:sp>
        <p:nvSpPr>
          <p:cNvPr id="26" name="Text 24"/>
          <p:cNvSpPr/>
          <p:nvPr/>
        </p:nvSpPr>
        <p:spPr>
          <a:xfrm>
            <a:off x="2971800" y="409651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Spending versus monthly limits is difficult to track.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658368" y="4809744"/>
            <a:ext cx="5696712" cy="621792"/>
          </a:xfrm>
          <a:prstGeom prst="roundRect">
            <a:avLst>
              <a:gd name="adj" fmla="val 19118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1248" y="4946904"/>
            <a:ext cx="310896" cy="310896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1248" y="495604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80160" y="49011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analysis</a:t>
            </a:r>
            <a:endParaRPr lang="en-US" sz="1340" dirty="0"/>
          </a:p>
        </p:txBody>
      </p:sp>
      <p:sp>
        <p:nvSpPr>
          <p:cNvPr id="31" name="Text 29"/>
          <p:cNvSpPr/>
          <p:nvPr/>
        </p:nvSpPr>
        <p:spPr>
          <a:xfrm>
            <a:off x="2971800" y="4882896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totals and changes require manual calculations.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665976" y="2450592"/>
            <a:ext cx="4828032" cy="3474720"/>
          </a:xfrm>
          <a:prstGeom prst="roundRect">
            <a:avLst>
              <a:gd name="adj" fmla="val 6053"/>
            </a:avLst>
          </a:prstGeom>
          <a:solidFill>
            <a:srgbClr val="2D2926"/>
          </a:solidFill>
          <a:ln w="12700">
            <a:solidFill>
              <a:srgbClr val="2D29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86016" y="2752344"/>
            <a:ext cx="1408176" cy="329184"/>
          </a:xfrm>
          <a:prstGeom prst="roundRect">
            <a:avLst>
              <a:gd name="adj" fmla="val 44444"/>
            </a:avLst>
          </a:prstGeom>
          <a:solidFill>
            <a:srgbClr val="8E3C28"/>
          </a:solidFill>
          <a:ln w="12700">
            <a:solidFill>
              <a:srgbClr val="8E3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59168" y="275234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86016" y="326440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finance workspace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7004304" y="3950208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5E2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income and expenses; monitor budgets; review calculated dashboards; import reviewed CSV records; and ask contextual financial questions.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10896"/>
            <a:ext cx="73152" cy="228600"/>
          </a:xfrm>
          <a:prstGeom prst="roundRect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29260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66176" y="2926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694944"/>
            <a:ext cx="11173968" cy="0"/>
          </a:xfrm>
          <a:prstGeom prst="line">
            <a:avLst/>
          </a:prstGeom>
          <a:noFill/>
          <a:ln w="1270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6510528"/>
            <a:ext cx="11173968" cy="0"/>
          </a:xfrm>
          <a:prstGeom prst="line">
            <a:avLst/>
          </a:prstGeom>
          <a:noFill/>
          <a:ln w="1143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summary  •  26 Oct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01984" y="65745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SYSTEM FLOW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12252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login to financial insight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49224" y="181965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typical journey uses Angular for interaction and Spring Boot as the trusted entry point.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" y="2441448"/>
            <a:ext cx="2084832" cy="250545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86968" y="2660904"/>
            <a:ext cx="475488" cy="475488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" y="26700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6968" y="33192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in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6968" y="3767328"/>
            <a:ext cx="16642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Angular sends login to Spring; JWT cookie and CSRF protect the session.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2770632" y="3630168"/>
            <a:ext cx="182880" cy="0"/>
          </a:xfrm>
          <a:prstGeom prst="line">
            <a:avLst/>
          </a:prstGeom>
          <a:noFill/>
          <a:ln w="25400">
            <a:solidFill>
              <a:srgbClr val="D879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90088" y="2441448"/>
            <a:ext cx="2084832" cy="250545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2660904"/>
            <a:ext cx="475488" cy="475488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26700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0" y="33192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data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200400" y="3767328"/>
            <a:ext cx="16642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creates categories, income/expense transactions, and budgets.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5084064" y="3630168"/>
            <a:ext cx="182880" cy="0"/>
          </a:xfrm>
          <a:prstGeom prst="line">
            <a:avLst/>
          </a:prstGeom>
          <a:noFill/>
          <a:ln w="25400">
            <a:solidFill>
              <a:srgbClr val="D879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03520" y="2441448"/>
            <a:ext cx="2084832" cy="250545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13832" y="2660904"/>
            <a:ext cx="475488" cy="475488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13832" y="26700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13832" y="33192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metrics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513832" y="3767328"/>
            <a:ext cx="16642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computes monthly totals, savings, categories, and budget status.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7397496" y="3630168"/>
            <a:ext cx="182880" cy="0"/>
          </a:xfrm>
          <a:prstGeom prst="line">
            <a:avLst/>
          </a:prstGeom>
          <a:noFill/>
          <a:ln w="25400">
            <a:solidFill>
              <a:srgbClr val="D879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16952" y="2441448"/>
            <a:ext cx="2084832" cy="250545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27264" y="2660904"/>
            <a:ext cx="475488" cy="475488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27264" y="26700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27264" y="33192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Yaman Ai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827264" y="3767328"/>
            <a:ext cx="16642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sends a bounded monthly aggregate to FastAPI for FINANCE chat.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9710928" y="3630168"/>
            <a:ext cx="182880" cy="0"/>
          </a:xfrm>
          <a:prstGeom prst="line">
            <a:avLst/>
          </a:prstGeom>
          <a:noFill/>
          <a:ln w="25400">
            <a:solidFill>
              <a:srgbClr val="D879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930384" y="2441448"/>
            <a:ext cx="2084832" cy="250545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140696" y="2660904"/>
            <a:ext cx="475488" cy="475488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140696" y="26700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140696" y="33192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answer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0140696" y="3767328"/>
            <a:ext cx="16642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response returns to Angular; persistent conversations use MongoDB.</a:t>
            </a:r>
            <a:endParaRPr lang="en-US" sz="1140" dirty="0"/>
          </a:p>
        </p:txBody>
      </p:sp>
      <p:sp>
        <p:nvSpPr>
          <p:cNvPr id="41" name="Shape 39"/>
          <p:cNvSpPr/>
          <p:nvPr/>
        </p:nvSpPr>
        <p:spPr>
          <a:xfrm>
            <a:off x="704088" y="5285232"/>
            <a:ext cx="10771632" cy="630936"/>
          </a:xfrm>
          <a:prstGeom prst="roundRect">
            <a:avLst>
              <a:gd name="adj" fmla="val 18841"/>
            </a:avLst>
          </a:prstGeom>
          <a:solidFill>
            <a:srgbClr val="FFF0DF"/>
          </a:solidFill>
          <a:ln w="12700">
            <a:solidFill>
              <a:srgbClr val="FFF0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14400" y="5468112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A3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boundary</a:t>
            </a:r>
            <a:endParaRPr lang="en-US" sz="1280" dirty="0"/>
          </a:p>
        </p:txBody>
      </p:sp>
      <p:sp>
        <p:nvSpPr>
          <p:cNvPr id="43" name="Text 41"/>
          <p:cNvSpPr/>
          <p:nvPr/>
        </p:nvSpPr>
        <p:spPr>
          <a:xfrm>
            <a:off x="2331720" y="5431536"/>
            <a:ext cx="8823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calls Spring; Spring calls FastAPI / Node via authenticated internal HTTP requests.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10896"/>
            <a:ext cx="73152" cy="228600"/>
          </a:xfrm>
          <a:prstGeom prst="roundRect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29260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66176" y="2926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694944"/>
            <a:ext cx="11173968" cy="0"/>
          </a:xfrm>
          <a:prstGeom prst="line">
            <a:avLst/>
          </a:prstGeom>
          <a:noFill/>
          <a:ln w="1270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6510528"/>
            <a:ext cx="11173968" cy="0"/>
          </a:xfrm>
          <a:prstGeom prst="line">
            <a:avLst/>
          </a:prstGeom>
          <a:noFill/>
          <a:ln w="1143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summary  •  26 Oct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01984" y="65745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SYSTEM FLOW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12252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architecture and service boundaries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49224" y="181965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independent backend processes; the Spring domain modules ship together.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" y="2596896"/>
            <a:ext cx="1865376" cy="1152144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80720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BROWSER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9808" y="31638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 &amp; session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53512" y="2551176"/>
            <a:ext cx="1975104" cy="1243584"/>
          </a:xfrm>
          <a:prstGeom prst="roundRect">
            <a:avLst>
              <a:gd name="adj" fmla="val 11765"/>
            </a:avLst>
          </a:prstGeom>
          <a:solidFill>
            <a:srgbClr val="FBEAE0"/>
          </a:solidFill>
          <a:ln w="10795">
            <a:solidFill>
              <a:srgbClr val="F5C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54680" y="2779776"/>
            <a:ext cx="1591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ANGULAR</a:t>
            </a:r>
            <a:endParaRPr lang="en-US" sz="1660" dirty="0"/>
          </a:p>
        </p:txBody>
      </p:sp>
      <p:sp>
        <p:nvSpPr>
          <p:cNvPr id="17" name="Text 15"/>
          <p:cNvSpPr/>
          <p:nvPr/>
        </p:nvSpPr>
        <p:spPr>
          <a:xfrm>
            <a:off x="3172968" y="3191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58384" y="2368296"/>
            <a:ext cx="2423160" cy="1609344"/>
          </a:xfrm>
          <a:prstGeom prst="roundRect">
            <a:avLst>
              <a:gd name="adj" fmla="val 9659"/>
            </a:avLst>
          </a:prstGeom>
          <a:solidFill>
            <a:srgbClr val="2D2926"/>
          </a:solidFill>
          <a:ln w="12700">
            <a:solidFill>
              <a:srgbClr val="2D29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0" y="2569464"/>
            <a:ext cx="1618488" cy="256032"/>
          </a:xfrm>
          <a:prstGeom prst="roundRect">
            <a:avLst>
              <a:gd name="adj" fmla="val 57143"/>
            </a:avLst>
          </a:prstGeom>
          <a:solidFill>
            <a:srgbClr val="71382E"/>
          </a:solidFill>
          <a:ln w="12700">
            <a:solidFill>
              <a:srgbClr val="7138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33872" y="2569464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E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GATEWAY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605272" y="2953512"/>
            <a:ext cx="1975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632704" y="33832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EFD3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API • :8080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2551176" y="3145536"/>
            <a:ext cx="338328" cy="0"/>
          </a:xfrm>
          <a:prstGeom prst="line">
            <a:avLst/>
          </a:prstGeom>
          <a:noFill/>
          <a:ln w="27305">
            <a:solidFill>
              <a:srgbClr val="E030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65192" y="3145536"/>
            <a:ext cx="338328" cy="0"/>
          </a:xfrm>
          <a:prstGeom prst="line">
            <a:avLst/>
          </a:prstGeom>
          <a:noFill/>
          <a:ln w="27305">
            <a:solidFill>
              <a:srgbClr val="E030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403336" y="2276856"/>
            <a:ext cx="3063240" cy="1197864"/>
          </a:xfrm>
          <a:prstGeom prst="roundRect">
            <a:avLst>
              <a:gd name="adj" fmla="val 12214"/>
            </a:avLst>
          </a:prstGeom>
          <a:solidFill>
            <a:srgbClr val="FFF0DF"/>
          </a:solidFill>
          <a:ln w="10795">
            <a:solidFill>
              <a:srgbClr val="F4C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13648" y="2523744"/>
            <a:ext cx="2569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· AI SERVICE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613648" y="2916936"/>
            <a:ext cx="2578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1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• chat • history gateway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7799832" y="2935224"/>
            <a:ext cx="521208" cy="0"/>
          </a:xfrm>
          <a:prstGeom prst="line">
            <a:avLst/>
          </a:prstGeom>
          <a:noFill/>
          <a:ln w="25400">
            <a:solidFill>
              <a:srgbClr val="D04A0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403336" y="4791456"/>
            <a:ext cx="3063240" cy="1051560"/>
          </a:xfrm>
          <a:prstGeom prst="roundRect">
            <a:avLst>
              <a:gd name="adj" fmla="val 13913"/>
            </a:avLst>
          </a:prstGeom>
          <a:solidFill>
            <a:srgbClr val="FFF1DE"/>
          </a:solidFill>
          <a:ln w="10795">
            <a:solidFill>
              <a:srgbClr val="EFB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22792" y="5020056"/>
            <a:ext cx="2615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· INTEGRATION</a:t>
            </a:r>
            <a:endParaRPr lang="en-US" sz="1530" dirty="0"/>
          </a:p>
        </p:txBody>
      </p:sp>
      <p:sp>
        <p:nvSpPr>
          <p:cNvPr id="31" name="Text 29"/>
          <p:cNvSpPr/>
          <p:nvPr/>
        </p:nvSpPr>
        <p:spPr>
          <a:xfrm>
            <a:off x="8631936" y="53949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1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provider • :3001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7818120" y="3502152"/>
            <a:ext cx="320040" cy="0"/>
          </a:xfrm>
          <a:prstGeom prst="line">
            <a:avLst/>
          </a:prstGeom>
          <a:noFill/>
          <a:ln w="25400">
            <a:solidFill>
              <a:srgbClr val="EB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38160" y="3502152"/>
            <a:ext cx="0" cy="1810512"/>
          </a:xfrm>
          <a:prstGeom prst="line">
            <a:avLst/>
          </a:prstGeom>
          <a:noFill/>
          <a:ln w="25400">
            <a:solidFill>
              <a:srgbClr val="EB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38160" y="5312664"/>
            <a:ext cx="182880" cy="0"/>
          </a:xfrm>
          <a:prstGeom prst="line">
            <a:avLst/>
          </a:prstGeom>
          <a:noFill/>
          <a:ln w="25400">
            <a:solidFill>
              <a:srgbClr val="EB8C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22392" y="4645152"/>
            <a:ext cx="2276856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15000" y="4791456"/>
            <a:ext cx="970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H2/</a:t>
            </a:r>
            <a:r>
              <a:rPr lang="en-US" sz="1500" b="1" dirty="0" err="1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705856" y="5129784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9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finance ledger</a:t>
            </a:r>
            <a:endParaRPr lang="en-US" sz="1090" dirty="0"/>
          </a:p>
        </p:txBody>
      </p:sp>
      <p:sp>
        <p:nvSpPr>
          <p:cNvPr id="38" name="Shape 36"/>
          <p:cNvSpPr/>
          <p:nvPr/>
        </p:nvSpPr>
        <p:spPr>
          <a:xfrm>
            <a:off x="6556248" y="4005072"/>
            <a:ext cx="0" cy="594360"/>
          </a:xfrm>
          <a:prstGeom prst="line">
            <a:avLst/>
          </a:prstGeom>
          <a:noFill/>
          <a:ln w="22860">
            <a:solidFill>
              <a:srgbClr val="E030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412480" y="3913632"/>
            <a:ext cx="1472184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58784" y="40507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1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210" dirty="0"/>
          </a:p>
        </p:txBody>
      </p:sp>
      <p:sp>
        <p:nvSpPr>
          <p:cNvPr id="41" name="Shape 39"/>
          <p:cNvSpPr/>
          <p:nvPr/>
        </p:nvSpPr>
        <p:spPr>
          <a:xfrm>
            <a:off x="10030968" y="3913632"/>
            <a:ext cx="1472184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195560" y="40507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1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OpenAI¹</a:t>
            </a:r>
            <a:endParaRPr lang="en-US" sz="1210" dirty="0"/>
          </a:p>
        </p:txBody>
      </p:sp>
      <p:sp>
        <p:nvSpPr>
          <p:cNvPr id="43" name="Shape 41"/>
          <p:cNvSpPr/>
          <p:nvPr/>
        </p:nvSpPr>
        <p:spPr>
          <a:xfrm>
            <a:off x="9272016" y="3511296"/>
            <a:ext cx="0" cy="374904"/>
          </a:xfrm>
          <a:prstGeom prst="line">
            <a:avLst/>
          </a:prstGeom>
          <a:noFill/>
          <a:ln w="17780">
            <a:solidFill>
              <a:srgbClr val="D04A0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771632" y="3511296"/>
            <a:ext cx="0" cy="374904"/>
          </a:xfrm>
          <a:prstGeom prst="line">
            <a:avLst/>
          </a:prstGeom>
          <a:noFill/>
          <a:ln w="17780">
            <a:solidFill>
              <a:srgbClr val="D04A0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5800" y="5998464"/>
            <a:ext cx="10789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¹ Optional model provider. H2 is the active local ledger; MySQL for prod deployment.</a:t>
            </a:r>
            <a:endParaRPr 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10896"/>
            <a:ext cx="73152" cy="228600"/>
          </a:xfrm>
          <a:prstGeom prst="roundRect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29260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66176" y="2926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694944"/>
            <a:ext cx="11173968" cy="0"/>
          </a:xfrm>
          <a:prstGeom prst="line">
            <a:avLst/>
          </a:prstGeom>
          <a:noFill/>
          <a:ln w="1270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6510528"/>
            <a:ext cx="11173968" cy="0"/>
          </a:xfrm>
          <a:prstGeom prst="line">
            <a:avLst/>
          </a:prstGeom>
          <a:noFill/>
          <a:ln w="1143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summary  •  26 Oct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01984" y="65745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COMPONENTS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12252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of the four deployable application units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49224" y="181965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plus three backend processes are deployable separately.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" y="2359152"/>
            <a:ext cx="543153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86968" y="2596896"/>
            <a:ext cx="502920" cy="502920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" y="260604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72768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Angular frontend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581912" y="29352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E03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User-facing application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1581912" y="32461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• forms • dashboards • assistant UI • session-aware state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455664" y="2359152"/>
            <a:ext cx="543153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75120" y="2596896"/>
            <a:ext cx="502920" cy="502920"/>
          </a:xfrm>
          <a:prstGeom prst="ellipse">
            <a:avLst/>
          </a:prstGeom>
          <a:solidFill>
            <a:srgbClr val="2D2926"/>
          </a:solidFill>
          <a:ln w="12700">
            <a:solidFill>
              <a:srgbClr val="2D29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260604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6092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 core API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370064" y="29352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application authority</a:t>
            </a:r>
            <a:endParaRPr lang="en-US" sz="1270" dirty="0"/>
          </a:p>
        </p:txBody>
      </p:sp>
      <p:sp>
        <p:nvSpPr>
          <p:cNvPr id="23" name="Text 21"/>
          <p:cNvSpPr/>
          <p:nvPr/>
        </p:nvSpPr>
        <p:spPr>
          <a:xfrm>
            <a:off x="7370064" y="32461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• finance CRUD • budgets • aggregates • CSV import • gateway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667512" y="4105656"/>
            <a:ext cx="543153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86968" y="4343400"/>
            <a:ext cx="502920" cy="502920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86968" y="435254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72768" y="43068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AI service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581912" y="468172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explanations &amp; chat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1581912" y="499262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insights • optional model • FINANCE fallback • Mongo history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6455664" y="4105656"/>
            <a:ext cx="543153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675120" y="4343400"/>
            <a:ext cx="502920" cy="502920"/>
          </a:xfrm>
          <a:prstGeom prst="ellipse">
            <a:avLst/>
          </a:prstGeom>
          <a:solidFill>
            <a:srgbClr val="EB8C00"/>
          </a:solidFill>
          <a:ln w="12700">
            <a:solidFill>
              <a:srgbClr val="EB8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75120" y="435254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60920" y="43068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integration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370064" y="468172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EB8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provider adapter</a:t>
            </a:r>
            <a:endParaRPr lang="en-US" sz="1270" dirty="0"/>
          </a:p>
        </p:txBody>
      </p:sp>
      <p:sp>
        <p:nvSpPr>
          <p:cNvPr id="35" name="Text 33"/>
          <p:cNvSpPr/>
          <p:nvPr/>
        </p:nvSpPr>
        <p:spPr>
          <a:xfrm>
            <a:off x="7370064" y="499262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validated fictional PHP transactions for demo synchronization</a:t>
            </a:r>
            <a:endParaRPr lang="en-US" sz="1110" dirty="0"/>
          </a:p>
        </p:txBody>
      </p:sp>
      <p:sp>
        <p:nvSpPr>
          <p:cNvPr id="36" name="Shape 34"/>
          <p:cNvSpPr/>
          <p:nvPr/>
        </p:nvSpPr>
        <p:spPr>
          <a:xfrm>
            <a:off x="685800" y="6035040"/>
            <a:ext cx="10826496" cy="310896"/>
          </a:xfrm>
          <a:prstGeom prst="roundRect">
            <a:avLst>
              <a:gd name="adj" fmla="val 23529"/>
            </a:avLst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9536" y="609904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note: Spring Boot is a modular monolith; its Java packages are NOT individually deployable microservices.</a:t>
            </a:r>
            <a:endParaRPr lang="en-US" sz="10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10896"/>
            <a:ext cx="73152" cy="228600"/>
          </a:xfrm>
          <a:prstGeom prst="roundRect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29260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66176" y="2926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COMPONENTS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694944"/>
            <a:ext cx="11173968" cy="0"/>
          </a:xfrm>
          <a:prstGeom prst="line">
            <a:avLst/>
          </a:prstGeom>
          <a:noFill/>
          <a:ln w="1270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6510528"/>
            <a:ext cx="11173968" cy="0"/>
          </a:xfrm>
          <a:prstGeom prst="line">
            <a:avLst/>
          </a:prstGeom>
          <a:noFill/>
          <a:ln w="1143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summary  •  26 Oct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01984" y="65745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COMPONENTS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12252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 internal modules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49224" y="181965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modules share one Java process, one relational transaction boundary, and one release artifact.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" y="2395728"/>
            <a:ext cx="2633472" cy="145389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2104" y="2578608"/>
            <a:ext cx="411480" cy="338328"/>
          </a:xfrm>
          <a:prstGeom prst="roundRect">
            <a:avLst>
              <a:gd name="adj" fmla="val 24324"/>
            </a:avLst>
          </a:prstGeom>
          <a:solidFill>
            <a:srgbClr val="FBEAE0"/>
          </a:solidFill>
          <a:ln w="12700">
            <a:solidFill>
              <a:srgbClr val="FBEA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" y="266090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E03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850392" y="30266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&amp; Security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850392" y="338328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Registration, login, JWT, CSRF, and sessions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3557016" y="2395728"/>
            <a:ext cx="2633472" cy="145389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21608" y="2578608"/>
            <a:ext cx="411480" cy="338328"/>
          </a:xfrm>
          <a:prstGeom prst="roundRect">
            <a:avLst>
              <a:gd name="adj" fmla="val 24324"/>
            </a:avLst>
          </a:prstGeom>
          <a:solidFill>
            <a:srgbClr val="FBEAE0"/>
          </a:solidFill>
          <a:ln w="12700">
            <a:solidFill>
              <a:srgbClr val="FBEA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76472" y="266090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E03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3739896" y="30266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Management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3739896" y="338328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and password changes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446520" y="2395728"/>
            <a:ext cx="2633472" cy="145389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11112" y="2578608"/>
            <a:ext cx="411480" cy="338328"/>
          </a:xfrm>
          <a:prstGeom prst="roundRect">
            <a:avLst>
              <a:gd name="adj" fmla="val 24324"/>
            </a:avLst>
          </a:prstGeom>
          <a:solidFill>
            <a:srgbClr val="FBEAE0"/>
          </a:solidFill>
          <a:ln w="12700">
            <a:solidFill>
              <a:srgbClr val="FBEA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65976" y="266090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E03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6629400" y="30266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Management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6629400" y="338328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Income/expense category CRUD and defaults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9336024" y="2395728"/>
            <a:ext cx="2633472" cy="145389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00616" y="2578608"/>
            <a:ext cx="411480" cy="338328"/>
          </a:xfrm>
          <a:prstGeom prst="roundRect">
            <a:avLst>
              <a:gd name="adj" fmla="val 24324"/>
            </a:avLst>
          </a:prstGeom>
          <a:solidFill>
            <a:srgbClr val="FBEAE0"/>
          </a:solidFill>
          <a:ln w="12700">
            <a:solidFill>
              <a:srgbClr val="FBEA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55480" y="266090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E03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9518904" y="30266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Management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9518904" y="338328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ledger CRUD, filters, and pagination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67512" y="4096512"/>
            <a:ext cx="2633472" cy="145389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2104" y="4279392"/>
            <a:ext cx="411480" cy="338328"/>
          </a:xfrm>
          <a:prstGeom prst="roundRect">
            <a:avLst>
              <a:gd name="adj" fmla="val 24324"/>
            </a:avLst>
          </a:prstGeom>
          <a:solidFill>
            <a:srgbClr val="FFF0DF"/>
          </a:solidFill>
          <a:ln w="12700">
            <a:solidFill>
              <a:srgbClr val="FFF0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86968" y="43616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A3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850392" y="4727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Management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850392" y="508406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limits and utilization statuses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3557016" y="4096512"/>
            <a:ext cx="2633472" cy="145389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721608" y="4279392"/>
            <a:ext cx="411480" cy="338328"/>
          </a:xfrm>
          <a:prstGeom prst="roundRect">
            <a:avLst>
              <a:gd name="adj" fmla="val 24324"/>
            </a:avLst>
          </a:prstGeom>
          <a:solidFill>
            <a:srgbClr val="FFF0DF"/>
          </a:solidFill>
          <a:ln w="12700">
            <a:solidFill>
              <a:srgbClr val="FFF0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76472" y="43616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A3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3739896" y="4727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80" dirty="0"/>
          </a:p>
        </p:txBody>
      </p:sp>
      <p:sp>
        <p:nvSpPr>
          <p:cNvPr id="41" name="Text 39"/>
          <p:cNvSpPr/>
          <p:nvPr/>
        </p:nvSpPr>
        <p:spPr>
          <a:xfrm>
            <a:off x="3739896" y="508406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Aggregated income, expenses, and savings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6446520" y="4096512"/>
            <a:ext cx="2633472" cy="145389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611112" y="4279392"/>
            <a:ext cx="411480" cy="338328"/>
          </a:xfrm>
          <a:prstGeom prst="roundRect">
            <a:avLst>
              <a:gd name="adj" fmla="val 24324"/>
            </a:avLst>
          </a:prstGeom>
          <a:solidFill>
            <a:srgbClr val="FFF0DF"/>
          </a:solidFill>
          <a:ln w="12700">
            <a:solidFill>
              <a:srgbClr val="FFF0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65976" y="43616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A3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30" dirty="0"/>
          </a:p>
        </p:txBody>
      </p:sp>
      <p:sp>
        <p:nvSpPr>
          <p:cNvPr id="45" name="Text 43"/>
          <p:cNvSpPr/>
          <p:nvPr/>
        </p:nvSpPr>
        <p:spPr>
          <a:xfrm>
            <a:off x="6629400" y="4727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Gateway / Chat</a:t>
            </a:r>
            <a:endParaRPr lang="en-US" sz="1280" dirty="0"/>
          </a:p>
        </p:txBody>
      </p:sp>
      <p:sp>
        <p:nvSpPr>
          <p:cNvPr id="46" name="Text 44"/>
          <p:cNvSpPr/>
          <p:nvPr/>
        </p:nvSpPr>
        <p:spPr>
          <a:xfrm>
            <a:off x="6629400" y="508406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monthly context; forwards AI requests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9336024" y="4096512"/>
            <a:ext cx="2633472" cy="145389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500616" y="4279392"/>
            <a:ext cx="411480" cy="338328"/>
          </a:xfrm>
          <a:prstGeom prst="roundRect">
            <a:avLst>
              <a:gd name="adj" fmla="val 24324"/>
            </a:avLst>
          </a:prstGeom>
          <a:solidFill>
            <a:srgbClr val="FFF0DF"/>
          </a:solidFill>
          <a:ln w="12700">
            <a:solidFill>
              <a:srgbClr val="FFF0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555480" y="43616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A3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30" dirty="0"/>
          </a:p>
        </p:txBody>
      </p:sp>
      <p:sp>
        <p:nvSpPr>
          <p:cNvPr id="50" name="Text 48"/>
          <p:cNvSpPr/>
          <p:nvPr/>
        </p:nvSpPr>
        <p:spPr>
          <a:xfrm>
            <a:off x="9518904" y="4727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&amp; Import</a:t>
            </a:r>
            <a:endParaRPr lang="en-US" sz="1280" dirty="0"/>
          </a:p>
        </p:txBody>
      </p:sp>
      <p:sp>
        <p:nvSpPr>
          <p:cNvPr id="51" name="Text 49"/>
          <p:cNvSpPr/>
          <p:nvPr/>
        </p:nvSpPr>
        <p:spPr>
          <a:xfrm>
            <a:off x="9518904" y="508406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sync; reviewed and deduplicated CSV import</a:t>
            </a:r>
            <a:endParaRPr lang="en-US" sz="1040" dirty="0"/>
          </a:p>
        </p:txBody>
      </p:sp>
      <p:sp>
        <p:nvSpPr>
          <p:cNvPr id="52" name="Shape 50"/>
          <p:cNvSpPr/>
          <p:nvPr/>
        </p:nvSpPr>
        <p:spPr>
          <a:xfrm>
            <a:off x="704088" y="5989320"/>
            <a:ext cx="10808208" cy="292608"/>
          </a:xfrm>
          <a:prstGeom prst="roundRect">
            <a:avLst>
              <a:gd name="adj" fmla="val 18750"/>
            </a:avLst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14400" y="6053328"/>
            <a:ext cx="10332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checks, relational constraints, and server-calculated financial totals stay authoritative in Spring.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10896"/>
            <a:ext cx="73152" cy="228600"/>
          </a:xfrm>
          <a:prstGeom prst="roundRect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29260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66176" y="2926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694944"/>
            <a:ext cx="11173968" cy="0"/>
          </a:xfrm>
          <a:prstGeom prst="line">
            <a:avLst/>
          </a:prstGeom>
          <a:noFill/>
          <a:ln w="1270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6510528"/>
            <a:ext cx="11173968" cy="0"/>
          </a:xfrm>
          <a:prstGeom prst="line">
            <a:avLst/>
          </a:prstGeom>
          <a:noFill/>
          <a:ln w="1143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summary  •  26 Oct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01984" y="65745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TECHNICAL STACK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12252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by layer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49224" y="181965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Versions reflect declarations in the inspected repository, not production certification.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" y="2276856"/>
            <a:ext cx="10817352" cy="3840480"/>
          </a:xfrm>
          <a:prstGeom prst="roundRect">
            <a:avLst>
              <a:gd name="adj" fmla="val 4048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2276856"/>
            <a:ext cx="10817352" cy="438912"/>
          </a:xfrm>
          <a:prstGeom prst="roundRect">
            <a:avLst>
              <a:gd name="adj" fmla="val 29167"/>
            </a:avLst>
          </a:prstGeom>
          <a:solidFill>
            <a:srgbClr val="2D2926"/>
          </a:solidFill>
          <a:ln w="12700">
            <a:solidFill>
              <a:srgbClr val="2D29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4231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70" b="1" kern="0" spc="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2852928" y="24231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70" b="1" kern="0" spc="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7744968" y="242316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70" b="1" kern="0" spc="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914400" y="28346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43784" y="2798064"/>
            <a:ext cx="4700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Angular 22 · TypeScript 6 · Material · RxJS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7744968" y="2798064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Pages, routing, UI, observable data flow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200400"/>
            <a:ext cx="10744200" cy="466344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3101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backend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843784" y="3273552"/>
            <a:ext cx="4700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25 · Spring Boot 4.1.1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7744968" y="3273552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APIs, security, finance rules, orchestration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378561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data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843784" y="3749040"/>
            <a:ext cx="4700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 · Spring Data JPA · Hibernate · Flyway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7744968" y="3749040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transactions, categories, budgets, schema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" y="4151376"/>
            <a:ext cx="10744200" cy="466344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2611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layer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843784" y="4224528"/>
            <a:ext cx="4700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3.14 · FastAPI · Pydantic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7744968" y="4224528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and validation; optional OpenAI SDK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4400" y="473659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history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843784" y="4700016"/>
            <a:ext cx="4700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7 · PyMongo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7744968" y="4700016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Conversations and messages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3232" y="5102352"/>
            <a:ext cx="10744200" cy="466344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" y="521208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843784" y="5175504"/>
            <a:ext cx="4700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· Express 5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7744968" y="5175504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provider and normalized demo records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14400" y="56875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Tooling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843784" y="5650992"/>
            <a:ext cx="4700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· Maven · Swagger · Bruno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7744968" y="5650992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databases, builds, API documentation/testing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10896"/>
            <a:ext cx="73152" cy="228600"/>
          </a:xfrm>
          <a:prstGeom prst="roundRect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29260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66176" y="2926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AI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694944"/>
            <a:ext cx="11173968" cy="0"/>
          </a:xfrm>
          <a:prstGeom prst="line">
            <a:avLst/>
          </a:prstGeom>
          <a:noFill/>
          <a:ln w="1270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6510528"/>
            <a:ext cx="11173968" cy="0"/>
          </a:xfrm>
          <a:prstGeom prst="line">
            <a:avLst/>
          </a:prstGeom>
          <a:noFill/>
          <a:ln w="1143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summary  •  26 Oct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01984" y="65745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SYSTEM FLOW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12252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data paths, one trusted finance authority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49224" y="181965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records stay in the relational ledger; conversation history is stored separately.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" y="2386584"/>
            <a:ext cx="1545336" cy="310896"/>
          </a:xfrm>
          <a:prstGeom prst="roundRect">
            <a:avLst>
              <a:gd name="adj" fmla="val 47059"/>
            </a:avLst>
          </a:prstGeom>
          <a:solidFill>
            <a:srgbClr val="FBEAE0"/>
          </a:solidFill>
          <a:ln w="12700">
            <a:solidFill>
              <a:srgbClr val="FBEA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" y="2386584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3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816352"/>
            <a:ext cx="10707624" cy="1161288"/>
          </a:xfrm>
          <a:prstGeom prst="roundRect">
            <a:avLst>
              <a:gd name="adj" fmla="val 11811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32688" y="3026664"/>
            <a:ext cx="2103120" cy="694944"/>
          </a:xfrm>
          <a:prstGeom prst="roundRect">
            <a:avLst>
              <a:gd name="adj" fmla="val 15789"/>
            </a:avLst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60704" y="3136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Angular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51560" y="3410712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/ budget request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63240" y="3364992"/>
            <a:ext cx="466344" cy="0"/>
          </a:xfrm>
          <a:prstGeom prst="line">
            <a:avLst/>
          </a:prstGeom>
          <a:noFill/>
          <a:ln w="21590">
            <a:solidFill>
              <a:srgbClr val="E030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02736" y="3026664"/>
            <a:ext cx="2103120" cy="694944"/>
          </a:xfrm>
          <a:prstGeom prst="roundRect">
            <a:avLst>
              <a:gd name="adj" fmla="val 15789"/>
            </a:avLst>
          </a:prstGeom>
          <a:solidFill>
            <a:srgbClr val="FFF0DF"/>
          </a:solidFill>
          <a:ln w="12700">
            <a:solidFill>
              <a:srgbClr val="FFF0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30752" y="3136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721608" y="3410712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owner &amp; finance rules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33288" y="3364992"/>
            <a:ext cx="466344" cy="0"/>
          </a:xfrm>
          <a:prstGeom prst="line">
            <a:avLst/>
          </a:prstGeom>
          <a:noFill/>
          <a:ln w="21590">
            <a:solidFill>
              <a:srgbClr val="E030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72784" y="3026664"/>
            <a:ext cx="2103120" cy="694944"/>
          </a:xfrm>
          <a:prstGeom prst="roundRect">
            <a:avLst>
              <a:gd name="adj" fmla="val 15789"/>
            </a:avLst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3136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 SQL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91656" y="3410712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relational records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03336" y="3364992"/>
            <a:ext cx="466344" cy="0"/>
          </a:xfrm>
          <a:prstGeom prst="line">
            <a:avLst/>
          </a:prstGeom>
          <a:noFill/>
          <a:ln w="21590">
            <a:solidFill>
              <a:srgbClr val="E030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942832" y="3026664"/>
            <a:ext cx="2103120" cy="694944"/>
          </a:xfrm>
          <a:prstGeom prst="roundRect">
            <a:avLst>
              <a:gd name="adj" fmla="val 15789"/>
            </a:avLst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070848" y="3136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061704" y="3410712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monthly aggregates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" y="431596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FFF0DF"/>
          </a:solidFill>
          <a:ln w="12700">
            <a:solidFill>
              <a:srgbClr val="FFF0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2104" y="4315968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3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CHAT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4736592"/>
            <a:ext cx="10707624" cy="1197864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32688" y="4937760"/>
            <a:ext cx="2816352" cy="758952"/>
          </a:xfrm>
          <a:prstGeom prst="roundRect">
            <a:avLst>
              <a:gd name="adj" fmla="val 12048"/>
            </a:avLst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88136" y="5047488"/>
            <a:ext cx="2505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</a:t>
            </a:r>
            <a:endParaRPr lang="en-US" sz="1430" dirty="0"/>
          </a:p>
        </p:txBody>
      </p:sp>
      <p:sp>
        <p:nvSpPr>
          <p:cNvPr id="35" name="Text 33"/>
          <p:cNvSpPr/>
          <p:nvPr/>
        </p:nvSpPr>
        <p:spPr>
          <a:xfrm>
            <a:off x="1069848" y="5358384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monthly summary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3785616" y="5321808"/>
            <a:ext cx="557784" cy="0"/>
          </a:xfrm>
          <a:prstGeom prst="line">
            <a:avLst/>
          </a:prstGeom>
          <a:noFill/>
          <a:ln w="21590">
            <a:solidFill>
              <a:srgbClr val="D04A0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462272" y="4937760"/>
            <a:ext cx="2816352" cy="758952"/>
          </a:xfrm>
          <a:prstGeom prst="roundRect">
            <a:avLst>
              <a:gd name="adj" fmla="val 12048"/>
            </a:avLst>
          </a:prstGeom>
          <a:solidFill>
            <a:srgbClr val="FFF0DF"/>
          </a:solidFill>
          <a:ln w="12700">
            <a:solidFill>
              <a:srgbClr val="FFF0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17720" y="5047488"/>
            <a:ext cx="2505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430" dirty="0"/>
          </a:p>
        </p:txBody>
      </p:sp>
      <p:sp>
        <p:nvSpPr>
          <p:cNvPr id="39" name="Text 37"/>
          <p:cNvSpPr/>
          <p:nvPr/>
        </p:nvSpPr>
        <p:spPr>
          <a:xfrm>
            <a:off x="4599432" y="5358384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or optional LLM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7315200" y="5321808"/>
            <a:ext cx="557784" cy="0"/>
          </a:xfrm>
          <a:prstGeom prst="line">
            <a:avLst/>
          </a:prstGeom>
          <a:noFill/>
          <a:ln w="21590">
            <a:solidFill>
              <a:srgbClr val="D04A0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991856" y="4937760"/>
            <a:ext cx="2816352" cy="758952"/>
          </a:xfrm>
          <a:prstGeom prst="roundRect">
            <a:avLst>
              <a:gd name="adj" fmla="val 12048"/>
            </a:avLst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147304" y="5047488"/>
            <a:ext cx="2505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430" dirty="0"/>
          </a:p>
        </p:txBody>
      </p:sp>
      <p:sp>
        <p:nvSpPr>
          <p:cNvPr id="43" name="Text 41"/>
          <p:cNvSpPr/>
          <p:nvPr/>
        </p:nvSpPr>
        <p:spPr>
          <a:xfrm>
            <a:off x="8129016" y="5358384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conversation history</a:t>
            </a:r>
            <a:endParaRPr lang="en-US" sz="10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10896"/>
            <a:ext cx="73152" cy="228600"/>
          </a:xfrm>
          <a:prstGeom prst="roundRect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29260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66176" y="2926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SCOPE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694944"/>
            <a:ext cx="11173968" cy="0"/>
          </a:xfrm>
          <a:prstGeom prst="line">
            <a:avLst/>
          </a:prstGeom>
          <a:noFill/>
          <a:ln w="1270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6510528"/>
            <a:ext cx="11173968" cy="0"/>
          </a:xfrm>
          <a:prstGeom prst="line">
            <a:avLst/>
          </a:prstGeom>
          <a:noFill/>
          <a:ln w="1143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summary  •  26 Oct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01984" y="65745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SCOPE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12252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implemented today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49224" y="181965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verified code provides a substantial local-development personal finance workflow.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459736"/>
            <a:ext cx="3575304" cy="3438144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0392" y="2660904"/>
            <a:ext cx="64008" cy="402336"/>
          </a:xfrm>
          <a:prstGeom prst="roundRect">
            <a:avLst>
              <a:gd name="adj" fmla="val 28571"/>
            </a:avLst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42416" y="27066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&amp; records</a:t>
            </a:r>
            <a:endParaRPr lang="en-US" sz="1730" dirty="0"/>
          </a:p>
        </p:txBody>
      </p:sp>
      <p:sp>
        <p:nvSpPr>
          <p:cNvPr id="15" name="Shape 13"/>
          <p:cNvSpPr/>
          <p:nvPr/>
        </p:nvSpPr>
        <p:spPr>
          <a:xfrm>
            <a:off x="932688" y="3310128"/>
            <a:ext cx="146304" cy="146304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" y="331927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1179576" y="325526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Registration, login, logout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932688" y="3858768"/>
            <a:ext cx="146304" cy="146304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2688" y="386791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179576" y="380390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and password management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932688" y="4407408"/>
            <a:ext cx="146304" cy="146304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2688" y="441655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1179576" y="435254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 / expense categories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32688" y="4956048"/>
            <a:ext cx="146304" cy="146304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2688" y="496519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1179576" y="490118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CRUD, filtering, paging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4553712" y="2459736"/>
            <a:ext cx="3575304" cy="3438144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18304" y="2660904"/>
            <a:ext cx="64008" cy="402336"/>
          </a:xfrm>
          <a:prstGeom prst="roundRect">
            <a:avLst>
              <a:gd name="adj" fmla="val 28571"/>
            </a:avLst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0328" y="27066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Budgets &amp; visibility</a:t>
            </a:r>
            <a:endParaRPr lang="en-US" sz="1730" dirty="0"/>
          </a:p>
        </p:txBody>
      </p:sp>
      <p:sp>
        <p:nvSpPr>
          <p:cNvPr id="30" name="Shape 28"/>
          <p:cNvSpPr/>
          <p:nvPr/>
        </p:nvSpPr>
        <p:spPr>
          <a:xfrm>
            <a:off x="4800600" y="3310128"/>
            <a:ext cx="146304" cy="146304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31927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5047488" y="325526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expense budgets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4800600" y="3858768"/>
            <a:ext cx="146304" cy="146304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386791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5047488" y="380390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Utilization: safe / warning / exceeded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4800600" y="4407408"/>
            <a:ext cx="146304" cy="146304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441655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5047488" y="435254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Income, expenses, savings summaries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4800600" y="4956048"/>
            <a:ext cx="146304" cy="146304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00600" y="496519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5047488" y="490118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and category dashboard views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8421624" y="2459736"/>
            <a:ext cx="3575304" cy="3438144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586216" y="2660904"/>
            <a:ext cx="64008" cy="402336"/>
          </a:xfrm>
          <a:prstGeom prst="roundRect">
            <a:avLst>
              <a:gd name="adj" fmla="val 28571"/>
            </a:avLst>
          </a:prstGeom>
          <a:solidFill>
            <a:srgbClr val="A32020"/>
          </a:solidFill>
          <a:ln w="12700">
            <a:solidFill>
              <a:srgbClr val="A32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778240" y="27066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&amp; ingestion</a:t>
            </a:r>
            <a:endParaRPr lang="en-US" sz="1730" dirty="0"/>
          </a:p>
        </p:txBody>
      </p:sp>
      <p:sp>
        <p:nvSpPr>
          <p:cNvPr id="45" name="Shape 43"/>
          <p:cNvSpPr/>
          <p:nvPr/>
        </p:nvSpPr>
        <p:spPr>
          <a:xfrm>
            <a:off x="8668512" y="3310128"/>
            <a:ext cx="146304" cy="146304"/>
          </a:xfrm>
          <a:prstGeom prst="ellipse">
            <a:avLst/>
          </a:prstGeom>
          <a:solidFill>
            <a:srgbClr val="A32020"/>
          </a:solidFill>
          <a:ln w="12700">
            <a:solidFill>
              <a:srgbClr val="A32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668512" y="331927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8915400" y="325526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/ GENERAL chat modes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8668512" y="3858768"/>
            <a:ext cx="146304" cy="146304"/>
          </a:xfrm>
          <a:prstGeom prst="ellipse">
            <a:avLst/>
          </a:prstGeom>
          <a:solidFill>
            <a:srgbClr val="A32020"/>
          </a:solidFill>
          <a:ln w="12700">
            <a:solidFill>
              <a:srgbClr val="A32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668512" y="386791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70" dirty="0"/>
          </a:p>
        </p:txBody>
      </p:sp>
      <p:sp>
        <p:nvSpPr>
          <p:cNvPr id="50" name="Text 48"/>
          <p:cNvSpPr/>
          <p:nvPr/>
        </p:nvSpPr>
        <p:spPr>
          <a:xfrm>
            <a:off x="8915400" y="380390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conversation history</a:t>
            </a:r>
            <a:endParaRPr lang="en-US" sz="1120" dirty="0"/>
          </a:p>
        </p:txBody>
      </p:sp>
      <p:sp>
        <p:nvSpPr>
          <p:cNvPr id="51" name="Shape 49"/>
          <p:cNvSpPr/>
          <p:nvPr/>
        </p:nvSpPr>
        <p:spPr>
          <a:xfrm>
            <a:off x="8668512" y="4407408"/>
            <a:ext cx="146304" cy="146304"/>
          </a:xfrm>
          <a:prstGeom prst="ellipse">
            <a:avLst/>
          </a:prstGeom>
          <a:solidFill>
            <a:srgbClr val="A32020"/>
          </a:solidFill>
          <a:ln w="12700">
            <a:solidFill>
              <a:srgbClr val="A32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668512" y="441655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70" dirty="0"/>
          </a:p>
        </p:txBody>
      </p:sp>
      <p:sp>
        <p:nvSpPr>
          <p:cNvPr id="53" name="Text 51"/>
          <p:cNvSpPr/>
          <p:nvPr/>
        </p:nvSpPr>
        <p:spPr>
          <a:xfrm>
            <a:off x="8915400" y="435254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Reviewed statement CSV imports</a:t>
            </a:r>
            <a:endParaRPr lang="en-US" sz="1120" dirty="0"/>
          </a:p>
        </p:txBody>
      </p:sp>
      <p:sp>
        <p:nvSpPr>
          <p:cNvPr id="54" name="Shape 52"/>
          <p:cNvSpPr/>
          <p:nvPr/>
        </p:nvSpPr>
        <p:spPr>
          <a:xfrm>
            <a:off x="8668512" y="4956048"/>
            <a:ext cx="146304" cy="146304"/>
          </a:xfrm>
          <a:prstGeom prst="ellipse">
            <a:avLst/>
          </a:prstGeom>
          <a:solidFill>
            <a:srgbClr val="A32020"/>
          </a:solidFill>
          <a:ln w="12700">
            <a:solidFill>
              <a:srgbClr val="A32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668512" y="496519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70" dirty="0"/>
          </a:p>
        </p:txBody>
      </p:sp>
      <p:sp>
        <p:nvSpPr>
          <p:cNvPr id="56" name="Text 54"/>
          <p:cNvSpPr/>
          <p:nvPr/>
        </p:nvSpPr>
        <p:spPr>
          <a:xfrm>
            <a:off x="8915400" y="490118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demo-bank synchronization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10896"/>
            <a:ext cx="73152" cy="228600"/>
          </a:xfrm>
          <a:prstGeom prst="roundRect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29260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66176" y="2926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BOUNDARIES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694944"/>
            <a:ext cx="11173968" cy="0"/>
          </a:xfrm>
          <a:prstGeom prst="line">
            <a:avLst/>
          </a:prstGeom>
          <a:noFill/>
          <a:ln w="1270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6510528"/>
            <a:ext cx="11173968" cy="0"/>
          </a:xfrm>
          <a:prstGeom prst="line">
            <a:avLst/>
          </a:prstGeom>
          <a:noFill/>
          <a:ln w="1143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summary  •  26 Oct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01984" y="65745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SCOPE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12252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boundaries: not a live banking platform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49224" y="181965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Demonstration capabilities should not be presented as real bank connectivity.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" y="2404872"/>
            <a:ext cx="5266944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41832" y="2670048"/>
            <a:ext cx="2377440" cy="329184"/>
          </a:xfrm>
          <a:prstGeom prst="roundRect">
            <a:avLst>
              <a:gd name="adj" fmla="val 44444"/>
            </a:avLst>
          </a:prstGeom>
          <a:solidFill>
            <a:srgbClr val="FFF1DE"/>
          </a:solidFill>
          <a:ln w="12700">
            <a:solidFill>
              <a:srgbClr val="FFF1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4984" y="2670048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53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 CURRENT SCOPE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9264" y="3264408"/>
            <a:ext cx="137160" cy="137160"/>
          </a:xfrm>
          <a:prstGeom prst="ellipse">
            <a:avLst/>
          </a:prstGeom>
          <a:solidFill>
            <a:srgbClr val="F2DDD0"/>
          </a:solidFill>
          <a:ln w="12700">
            <a:solidFill>
              <a:srgbClr val="F2DD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9264" y="3273552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D4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71016" y="3227832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6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bank APIs and automatic polling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969264" y="3703320"/>
            <a:ext cx="137160" cy="137160"/>
          </a:xfrm>
          <a:prstGeom prst="ellipse">
            <a:avLst/>
          </a:prstGeom>
          <a:solidFill>
            <a:srgbClr val="F2DDD0"/>
          </a:solidFill>
          <a:ln w="12700">
            <a:solidFill>
              <a:srgbClr val="F2DD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9264" y="3712464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D4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71016" y="3666744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6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Payments, transfers, investments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969264" y="4142232"/>
            <a:ext cx="137160" cy="137160"/>
          </a:xfrm>
          <a:prstGeom prst="ellipse">
            <a:avLst/>
          </a:prstGeom>
          <a:solidFill>
            <a:srgbClr val="F2DDD0"/>
          </a:solidFill>
          <a:ln w="12700">
            <a:solidFill>
              <a:srgbClr val="F2DD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9264" y="4151376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D4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71016" y="4105656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6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Multi-currency ledger conversion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969264" y="4581144"/>
            <a:ext cx="137160" cy="137160"/>
          </a:xfrm>
          <a:prstGeom prst="ellipse">
            <a:avLst/>
          </a:prstGeom>
          <a:solidFill>
            <a:srgbClr val="F2DDD0"/>
          </a:solidFill>
          <a:ln w="12700">
            <a:solidFill>
              <a:srgbClr val="F2DD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9264" y="4590288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D4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71016" y="4544568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6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 sharing and admin UI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969264" y="5020056"/>
            <a:ext cx="137160" cy="137160"/>
          </a:xfrm>
          <a:prstGeom prst="ellipse">
            <a:avLst/>
          </a:prstGeom>
          <a:solidFill>
            <a:srgbClr val="F2DDD0"/>
          </a:solidFill>
          <a:ln w="12700">
            <a:solidFill>
              <a:srgbClr val="F2DD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9264" y="5029200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D4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71016" y="498348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6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financial advice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6199632" y="2404872"/>
            <a:ext cx="5276088" cy="3383280"/>
          </a:xfrm>
          <a:prstGeom prst="roundRect">
            <a:avLst>
              <a:gd name="adj" fmla="val 4865"/>
            </a:avLst>
          </a:prstGeom>
          <a:solidFill>
            <a:srgbClr val="2D2926"/>
          </a:solidFill>
          <a:ln w="12700">
            <a:solidFill>
              <a:srgbClr val="2D29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464808" y="2670048"/>
            <a:ext cx="2240280" cy="329184"/>
          </a:xfrm>
          <a:prstGeom prst="roundRect">
            <a:avLst>
              <a:gd name="adj" fmla="val 44444"/>
            </a:avLst>
          </a:prstGeom>
          <a:solidFill>
            <a:srgbClr val="67332D"/>
          </a:solidFill>
          <a:ln w="12700">
            <a:solidFill>
              <a:srgbClr val="6733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37960" y="26700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E8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LIMITATIONS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83096" y="3273552"/>
            <a:ext cx="128016" cy="128016"/>
          </a:xfrm>
          <a:prstGeom prst="ellipse">
            <a:avLst/>
          </a:prstGeom>
          <a:solidFill>
            <a:srgbClr val="EB8C00"/>
          </a:solidFill>
          <a:ln w="12700">
            <a:solidFill>
              <a:srgbClr val="EB8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83096" y="328269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793992" y="3227832"/>
            <a:ext cx="4242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 local database; MySQL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6483096" y="3712464"/>
            <a:ext cx="128016" cy="128016"/>
          </a:xfrm>
          <a:prstGeom prst="ellipse">
            <a:avLst/>
          </a:prstGeom>
          <a:solidFill>
            <a:srgbClr val="EB8C00"/>
          </a:solidFill>
          <a:ln w="12700">
            <a:solidFill>
              <a:srgbClr val="EB8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83096" y="372160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6793992" y="3666744"/>
            <a:ext cx="4242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verified cloud / CI-CD deployment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6483096" y="4151376"/>
            <a:ext cx="128016" cy="128016"/>
          </a:xfrm>
          <a:prstGeom prst="ellipse">
            <a:avLst/>
          </a:prstGeom>
          <a:solidFill>
            <a:srgbClr val="EB8C00"/>
          </a:solidFill>
          <a:ln w="12700">
            <a:solidFill>
              <a:srgbClr val="EB8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83096" y="416052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6793992" y="4105656"/>
            <a:ext cx="4242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MFA, password reset, or live bank OAuth</a:t>
            </a:r>
            <a:endParaRPr lang="en-US" sz="1180" dirty="0"/>
          </a:p>
        </p:txBody>
      </p:sp>
      <p:sp>
        <p:nvSpPr>
          <p:cNvPr id="42" name="Shape 40"/>
          <p:cNvSpPr/>
          <p:nvPr/>
        </p:nvSpPr>
        <p:spPr>
          <a:xfrm>
            <a:off x="6483096" y="4590288"/>
            <a:ext cx="128016" cy="128016"/>
          </a:xfrm>
          <a:prstGeom prst="ellipse">
            <a:avLst/>
          </a:prstGeom>
          <a:solidFill>
            <a:srgbClr val="EB8C00"/>
          </a:solidFill>
          <a:ln w="12700">
            <a:solidFill>
              <a:srgbClr val="EB8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83096" y="45994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6793992" y="4544568"/>
            <a:ext cx="4242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proven backups or production availability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6483096" y="5029200"/>
            <a:ext cx="128016" cy="128016"/>
          </a:xfrm>
          <a:prstGeom prst="ellipse">
            <a:avLst/>
          </a:prstGeom>
          <a:solidFill>
            <a:srgbClr val="EB8C00"/>
          </a:solidFill>
          <a:ln w="12700">
            <a:solidFill>
              <a:srgbClr val="EB8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83096" y="503834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6793992" y="4983480"/>
            <a:ext cx="4242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guaranteed exactly-once AI chat writes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10896"/>
            <a:ext cx="73152" cy="228600"/>
          </a:xfrm>
          <a:prstGeom prst="roundRect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29260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66176" y="2926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ENHANCEMENT ROADMAP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694944"/>
            <a:ext cx="11173968" cy="0"/>
          </a:xfrm>
          <a:prstGeom prst="line">
            <a:avLst/>
          </a:prstGeom>
          <a:noFill/>
          <a:ln w="1270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6510528"/>
            <a:ext cx="11173968" cy="0"/>
          </a:xfrm>
          <a:prstGeom prst="line">
            <a:avLst/>
          </a:prstGeom>
          <a:noFill/>
          <a:ln w="11430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summary  •  26 Oct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01984" y="65745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326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FUTURE ENHANCEMENTS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12252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Roadmap: release readiness first, new capability later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49224" y="181965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roadmap items are proposals unless the baseline explicitly identifies existing code.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" y="2423160"/>
            <a:ext cx="3547872" cy="356616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2423160"/>
            <a:ext cx="3547872" cy="630936"/>
          </a:xfrm>
          <a:prstGeom prst="roundRect">
            <a:avLst>
              <a:gd name="adj" fmla="val 20290"/>
            </a:avLst>
          </a:prstGeom>
          <a:solidFill>
            <a:srgbClr val="FBEAE0"/>
          </a:solidFill>
          <a:ln w="12700">
            <a:solidFill>
              <a:srgbClr val="FBEA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2660904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" dirty="0">
                <a:solidFill>
                  <a:srgbClr val="E03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 · RELEASE GATES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" y="3255264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deployable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5256" y="3822192"/>
            <a:ext cx="137160" cy="137160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5256" y="3831336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739896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migration &amp; full test coverage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905256" y="4297680"/>
            <a:ext cx="137160" cy="137160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" y="4306824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52144" y="4215384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HTTPS, reverse proxy &amp; secret security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905256" y="4773168"/>
            <a:ext cx="137160" cy="137160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" y="4782312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2144" y="469087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QA drift and documentation</a:t>
            </a:r>
            <a:endParaRPr lang="en-US" sz="1110" dirty="0"/>
          </a:p>
        </p:txBody>
      </p:sp>
      <p:sp>
        <p:nvSpPr>
          <p:cNvPr id="25" name="Shape 23"/>
          <p:cNvSpPr/>
          <p:nvPr/>
        </p:nvSpPr>
        <p:spPr>
          <a:xfrm>
            <a:off x="905256" y="5248656"/>
            <a:ext cx="137160" cy="137160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" y="5257800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52144" y="5166360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backup and restore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4352544" y="2423160"/>
            <a:ext cx="3547872" cy="356616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52544" y="2423160"/>
            <a:ext cx="3547872" cy="630936"/>
          </a:xfrm>
          <a:prstGeom prst="roundRect">
            <a:avLst>
              <a:gd name="adj" fmla="val 20290"/>
            </a:avLst>
          </a:prstGeom>
          <a:solidFill>
            <a:srgbClr val="FFE9DC"/>
          </a:solidFill>
          <a:ln w="12700">
            <a:solidFill>
              <a:srgbClr val="FFE9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2660904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· NEXT CYCLE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53712" y="3255264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reliable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581144" y="3822192"/>
            <a:ext cx="137160" cy="137160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81144" y="3831336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28032" y="3739896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and observability</a:t>
            </a:r>
            <a:endParaRPr lang="en-US" sz="1110" dirty="0"/>
          </a:p>
        </p:txBody>
      </p:sp>
      <p:sp>
        <p:nvSpPr>
          <p:cNvPr id="35" name="Shape 33"/>
          <p:cNvSpPr/>
          <p:nvPr/>
        </p:nvSpPr>
        <p:spPr>
          <a:xfrm>
            <a:off x="4581144" y="4297680"/>
            <a:ext cx="137160" cy="137160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81144" y="4306824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28032" y="4215384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numerical grounding &amp; evaluation</a:t>
            </a:r>
            <a:endParaRPr lang="en-US" sz="1110" dirty="0"/>
          </a:p>
        </p:txBody>
      </p:sp>
      <p:sp>
        <p:nvSpPr>
          <p:cNvPr id="38" name="Shape 36"/>
          <p:cNvSpPr/>
          <p:nvPr/>
        </p:nvSpPr>
        <p:spPr>
          <a:xfrm>
            <a:off x="4581144" y="4773168"/>
            <a:ext cx="137160" cy="137160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81144" y="4782312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28032" y="469087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idempotency and persistence</a:t>
            </a:r>
            <a:endParaRPr lang="en-US" sz="1110" dirty="0"/>
          </a:p>
        </p:txBody>
      </p:sp>
      <p:sp>
        <p:nvSpPr>
          <p:cNvPr id="41" name="Shape 39"/>
          <p:cNvSpPr/>
          <p:nvPr/>
        </p:nvSpPr>
        <p:spPr>
          <a:xfrm>
            <a:off x="4581144" y="5248656"/>
            <a:ext cx="137160" cy="137160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81144" y="5257800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28032" y="5166360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privacy &amp; CSV reconciliation</a:t>
            </a:r>
            <a:endParaRPr lang="en-US" sz="1110" dirty="0"/>
          </a:p>
        </p:txBody>
      </p:sp>
      <p:sp>
        <p:nvSpPr>
          <p:cNvPr id="44" name="Shape 42"/>
          <p:cNvSpPr/>
          <p:nvPr/>
        </p:nvSpPr>
        <p:spPr>
          <a:xfrm>
            <a:off x="8028432" y="2423160"/>
            <a:ext cx="3465576" cy="3566160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10795">
            <a:solidFill>
              <a:srgbClr val="E8D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028432" y="2423160"/>
            <a:ext cx="3465576" cy="630936"/>
          </a:xfrm>
          <a:prstGeom prst="roundRect">
            <a:avLst>
              <a:gd name="adj" fmla="val 20290"/>
            </a:avLst>
          </a:prstGeom>
          <a:solidFill>
            <a:srgbClr val="FFF1DE"/>
          </a:solidFill>
          <a:ln w="12700">
            <a:solidFill>
              <a:srgbClr val="FFF1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47888" y="2660904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" dirty="0">
                <a:solidFill>
                  <a:srgbClr val="D04A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 · FUTURE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0" y="3255264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capabilities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8257032" y="3822192"/>
            <a:ext cx="137160" cy="137160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257032" y="3831336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503920" y="373989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bank APIs with user consent</a:t>
            </a:r>
            <a:endParaRPr lang="en-US" sz="1110" dirty="0"/>
          </a:p>
        </p:txBody>
      </p:sp>
      <p:sp>
        <p:nvSpPr>
          <p:cNvPr id="51" name="Shape 49"/>
          <p:cNvSpPr/>
          <p:nvPr/>
        </p:nvSpPr>
        <p:spPr>
          <a:xfrm>
            <a:off x="8257032" y="4297680"/>
            <a:ext cx="137160" cy="137160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257032" y="4306824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503920" y="4215384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expense analytics</a:t>
            </a:r>
            <a:endParaRPr lang="en-US" sz="1110" dirty="0"/>
          </a:p>
        </p:txBody>
      </p:sp>
      <p:sp>
        <p:nvSpPr>
          <p:cNvPr id="54" name="Shape 52"/>
          <p:cNvSpPr/>
          <p:nvPr/>
        </p:nvSpPr>
        <p:spPr>
          <a:xfrm>
            <a:off x="8257032" y="4773168"/>
            <a:ext cx="137160" cy="137160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257032" y="4782312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503920" y="469087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spending detection</a:t>
            </a:r>
            <a:endParaRPr lang="en-US" sz="1110" dirty="0"/>
          </a:p>
        </p:txBody>
      </p:sp>
      <p:sp>
        <p:nvSpPr>
          <p:cNvPr id="57" name="Shape 55"/>
          <p:cNvSpPr/>
          <p:nvPr/>
        </p:nvSpPr>
        <p:spPr>
          <a:xfrm>
            <a:off x="8257032" y="5248656"/>
            <a:ext cx="137160" cy="137160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257032" y="5257800"/>
            <a:ext cx="137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503920" y="516636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39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scalability improvements</a:t>
            </a:r>
            <a:endParaRPr lang="en-US" sz="11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2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3319272" cy="6858000"/>
          </a:xfrm>
          <a:prstGeom prst="roundRect">
            <a:avLst>
              <a:gd name="adj" fmla="val 16529"/>
            </a:avLst>
          </a:prstGeom>
          <a:solidFill>
            <a:srgbClr val="442322"/>
          </a:solidFill>
          <a:ln w="12700">
            <a:solidFill>
              <a:srgbClr val="4423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5528" y="704088"/>
            <a:ext cx="1362456" cy="329184"/>
          </a:xfrm>
          <a:prstGeom prst="roundRect">
            <a:avLst>
              <a:gd name="adj" fmla="val 44444"/>
            </a:avLst>
          </a:prstGeom>
          <a:solidFill>
            <a:srgbClr val="71362F"/>
          </a:solidFill>
          <a:ln w="12700">
            <a:solidFill>
              <a:srgbClr val="7136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70408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9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" y="1335024"/>
            <a:ext cx="10789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YamanTracker in three takeaways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813816" y="2487168"/>
            <a:ext cx="484632" cy="484632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3816" y="2496312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27048" y="2441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45336" y="28346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ECD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finance tracking is fragmented; the app centralizes records, budgets, and summaries.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13816" y="3602736"/>
            <a:ext cx="484632" cy="484632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3816" y="3611880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27048" y="3557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45336" y="3950208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ECD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Angular + Spring core API + separate FastAPI and Node services; H2 ledger + Mongo chat.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13816" y="4718304"/>
            <a:ext cx="484632" cy="484632"/>
          </a:xfrm>
          <a:prstGeom prst="ellipse">
            <a:avLst/>
          </a:prstGeom>
          <a:solidFill>
            <a:srgbClr val="E0301E"/>
          </a:solidFill>
          <a:ln w="12700">
            <a:solidFill>
              <a:srgbClr val="E030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3816" y="4727448"/>
            <a:ext cx="484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27048" y="4672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45336" y="5065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ECD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Solid local implementation; prioritize MySQL, secure deployment, recovery, and reliability.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795528" y="5843016"/>
            <a:ext cx="10533888" cy="0"/>
          </a:xfrm>
          <a:prstGeom prst="line">
            <a:avLst/>
          </a:prstGeom>
          <a:noFill/>
          <a:ln w="13970">
            <a:solidFill>
              <a:srgbClr val="895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4672" y="6062472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40" dirty="0">
                <a:solidFill>
                  <a:srgbClr val="B9CD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YamanTracker — System Analysis and Technical Architecture • 26 October 2026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1739</Words>
  <Application>Microsoft Office PowerPoint</Application>
  <PresentationFormat>Widescreen</PresentationFormat>
  <Paragraphs>320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YamanTracker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YamanTracker - System Summary &amp; Architecture</dc:title>
  <dc:subject>YamanTracker system summary and technical architecture</dc:subject>
  <dc:creator>OpenAI</dc:creator>
  <cp:lastModifiedBy>Joseph Rocafort (AC Manila)</cp:lastModifiedBy>
  <cp:revision>2</cp:revision>
  <dcterms:created xsi:type="dcterms:W3CDTF">2026-10-28T02:16:42Z</dcterms:created>
  <dcterms:modified xsi:type="dcterms:W3CDTF">2026-10-29T02:19:28Z</dcterms:modified>
</cp:coreProperties>
</file>